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be263c2d8b47f7" /><Relationship Type="http://schemas.openxmlformats.org/officeDocument/2006/relationships/extended-properties" Target="/docProps/app.xml" Id="R6a8f35a3cc1842d1" /><Relationship Type="http://schemas.openxmlformats.org/officeDocument/2006/relationships/officeDocument" Target="/ppt/presentation.xml" Id="Rb3641d0afaac489d" /></Relationships>
</file>

<file path=ppt/presentation.xml><?xml version="1.0" encoding="utf-8"?>
<p:presentation xmlns:p="http://schemas.openxmlformats.org/presentationml/2006/main">
  <p:sldMasterIdLst>
    <p:sldMasterId xmlns:r="http://schemas.openxmlformats.org/officeDocument/2006/relationships" id="2147483648" r:id="Rb8cc1456df064b6f"/>
  </p:sldMasterIdLst>
  <p:notesMasterIdLst>
    <p:notesMasterId xmlns:r="http://schemas.openxmlformats.org/officeDocument/2006/relationships" r:id="Rc08eeef909484ee2"/>
  </p:notesMasterIdLst>
  <p:sldIdLst>
    <p:sldId xmlns:r="http://schemas.openxmlformats.org/officeDocument/2006/relationships" id="256" r:id="R31e5306211994a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1a43189b8e4290" /><Relationship Type="http://schemas.openxmlformats.org/officeDocument/2006/relationships/slideMaster" Target="/ppt/slideMasters/slideMaster1.xml" Id="Rb8cc1456df064b6f" /><Relationship Type="http://schemas.openxmlformats.org/officeDocument/2006/relationships/notesMaster" Target="/ppt/notesMasters/notesMaster1.xml" Id="Rc08eeef909484ee2" /><Relationship Type="http://schemas.openxmlformats.org/officeDocument/2006/relationships/presProps" Target="/ppt/presProps.xml" Id="R69154027070f4233" /><Relationship Type="http://schemas.openxmlformats.org/officeDocument/2006/relationships/tableStyles" Target="/ppt/tableStyles.xml" Id="R4caa0fd080d944d6" /><Relationship Type="http://schemas.openxmlformats.org/officeDocument/2006/relationships/slide" Target="/ppt/slides/slide1.xml" Id="R31e5306211994a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671e89a33d42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66e50a905549c3" /><Relationship Type="http://schemas.openxmlformats.org/officeDocument/2006/relationships/notesMaster" Target="/ppt/notesMasters/notesMaster1.xml" Id="R9e79eb9f691749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capstone is PROWL, which stands for Pancreatic Review and Outlining Workflow for Lesions. It is a research prototype for helping a reviewer work through pancreatic CT images. The central task is to propose outlines that a person can inspect and correct.</a:t>
            </a:r>
          </a:p>
          <a:p xmlns:a="http://schemas.openxmlformats.org/drawingml/2006/main">
            <a:r>
              <a:t/>
            </a:r>
          </a:p>
          <a:p xmlns:a="http://schemas.openxmlformats.org/drawingml/2006/main">
            <a:r>
              <a:t>The planned imaging workflow has two stages. First, a localizer finds the pancreas in the full CT scan. Then a segmenter proposes outlines for the pancreas and suspected lesions. In the viewer, a reviewer will be able to accept, edit or reject the result, and the system will save that decision. A supporting literature assistant will retrieve source passages for the structured findings and show their citations. When the sources do not support an answer, it should decline to answer.</a:t>
            </a:r>
          </a:p>
          <a:p xmlns:a="http://schemas.openxmlformats.org/drawingml/2006/main">
            <a:r>
              <a:t/>
            </a:r>
          </a:p>
          <a:p xmlns:a="http://schemas.openxmlformats.org/drawingml/2006/main">
            <a:r>
              <a:t>I chose this project because pancreatic lesion segmentation pushes me to solve a difficult machine learning and computer vision problem. The system has to locate an organ in a three-dimensional scan, then distinguish small lesions and propose useful boundaries. That challenge is compelling to me on its own, but healthcare gives it a purpose I care about. I see healthcare as the most inspiring use of AI, and I want to explore how AI can support a person's review of medical images.</a:t>
            </a:r>
          </a:p>
          <a:p xmlns:a="http://schemas.openxmlformats.org/drawingml/2006/main">
            <a:r>
              <a:t/>
            </a:r>
          </a:p>
          <a:p xmlns:a="http://schemas.openxmlformats.org/drawingml/2006/main">
            <a:r>
              <a:t>I am using Python with PyTorch and MONAI for the imaging pipeline. The plan is to use PanTS and PANORAMA after validating their labels and keeping patients separate across training and evaluation. FastAPI and React with NiiVue will connect the model outputs to the reviewer interface. I will compare model contours with reference annotations, measure missed lesions and false alarms, and compare automatic localization with the supplied-region condition. The literature path will preserve the connection between retrieved passages and their citations.</a:t>
            </a:r>
          </a:p>
          <a:p xmlns:a="http://schemas.openxmlformats.org/drawingml/2006/main">
            <a:r>
              <a:t/>
            </a:r>
          </a:p>
          <a:p xmlns:a="http://schemas.openxmlformats.org/drawingml/2006/main">
            <a:r>
              <a:t>Both models can already train, export predictions and recover verified checkpoints, but the contours remain poor. The autonomous two-stage workflow and full integration are still ahead. My goal is an evaluated annotation-assist prototype with clear limitations. It supports review and does not diagnose disease or recommend treatment.</a:t>
            </a:r>
          </a:p>
          <a:p xmlns:a="http://schemas.openxmlformats.org/drawingml/2006/main">
            <a:r>
              <a:t/>
            </a:r>
          </a:p>
          <a:p xmlns:a="http://schemas.openxmlformats.org/drawingml/2006/main">
            <a:r>
              <a:t>Sources for project scope and motivation: Evans_Quinton_PROWL_Capstone_Proposal_v3.8.docx, sections 1, 2, 4 and 5; Evans_Quinton_PROWL_Capstone_Technical_Appendix_v3.1.docx, sections A1 and A2.</a:t>
            </a:r>
          </a:p>
          <a:p xmlns:a="http://schemas.openxmlformats.org/drawingml/2006/main">
            <a:r>
              <a:t>Why wording: Quinton Evans, October 6, 2026 revision request, focusing on the machine learning and computer vision challenge and his interest in healthcare AI.</a:t>
            </a:r>
          </a:p>
          <a:p xmlns:a="http://schemas.openxmlformats.org/drawingml/2006/main">
            <a:r>
              <a:t>Current implementation status: docs/capstone/operations/COURSE-START-SUMMARY-2026-10-05.md and docs/capstone/operations/CAP-EXP-014-RESULTS-2026-10-03.md.</a:t>
            </a:r>
          </a:p>
          <a:p xmlns:a="http://schemas.openxmlformats.org/drawingml/2006/main">
            <a:r>
              <a:t>Brand asset: assets/branding/PROWL_CT_wordmark_concept_v2.png, existing project concept wordmark. It is a stylized illustration, not a model prediction or medical scan.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f8c002b7b444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258ada9923433b" /><Relationship Type="http://schemas.openxmlformats.org/officeDocument/2006/relationships/slideLayout" Target="/ppt/slideLayouts/slideLayout1.xml" Id="Rab8754e7bb894b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8754e7bb894b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4a9a5ea0b94055" /><Relationship Type="http://schemas.openxmlformats.org/officeDocument/2006/relationships/image" Target="/ppt/media/image.png" Id="Re0571b340f9c4950" /><Relationship Type="http://schemas.openxmlformats.org/officeDocument/2006/relationships/notesSlide" Target="/ppt/notesSlides/notesSlide1.xml" Id="R405fc1ffbb51430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0571b340f9c4950"/>
          <a:stretch xmlns:a="http://schemas.openxmlformats.org/drawingml/2006/main"/>
        </p:blipFill>
        <p:spPr>
          <a:xfrm xmlns:a="http://schemas.openxmlformats.org/drawingml/2006/main">
            <a:off x="523875" y="333375"/>
            <a:ext cx="3943350" cy="1314450"/>
          </a:xfrm>
          <a:prstGeom xmlns:a="http://schemas.openxmlformats.org/drawingml/2006/main" prst="rect">
            <a:avLst/>
          </a:prstGeom>
        </p:spPr>
      </p:pic>
      <p:sp>
        <p:nvSpPr>
          <p:cNvPr id="2" name="author">
            <a:extLst xmlns:a="http://schemas.openxmlformats.org/drawingml/2006/main">
              <a:ext uri="{FF2B5EF4-FFF2-40B4-BE49-F238E27FC236}">
                <a16:creationId xmlns:a16="http://schemas.microsoft.com/office/drawing/2014/main" id="{0098B307-8C05-4407-BEB7-9099D46EC7C1}"/>
              </a:ext>
            </a:extLst>
          </p:cNvPr>
          <p:cNvSpPr>
            <a:spLocks xmlns:a="http://schemas.openxmlformats.org/drawingml/2006/main" noGrp="1"/>
          </p:cNvSpPr>
          <p:nvPr/>
        </p:nvSpPr>
        <p:spPr>
          <a:xfrm xmlns:a="http://schemas.openxmlformats.org/drawingml/2006/main">
            <a:off x="8810625" y="771525"/>
            <a:ext cx="2809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3000"/>
              </a:lnSpc>
              <a:buNone/>
              <a:defRPr sz="1800" b="0">
                <a:solidFill>
                  <a:srgbClr val="172C40"/>
                </a:solidFill>
                <a:latin typeface="Helvetica Neue"/>
                <a:ea typeface="Helvetica Neue"/>
                <a:cs typeface="Helvetica Neue"/>
              </a:defRPr>
            </a:pPr>
            <a:r>
              <a:rPr sz="1800" b="0">
                <a:solidFill>
                  <a:srgbClr val="172C40"/>
                </a:solidFill>
                <a:latin typeface="Helvetica Neue"/>
                <a:ea typeface="Helvetica Neue"/>
                <a:cs typeface="Helvetica Neue"/>
              </a:rPr>
              <a:t>Quinton Evans</a:t>
            </a:r>
          </a:p>
        </p:txBody>
      </p:sp>
      <p:sp>
        <p:nvSpPr>
          <p:cNvPr id="3" name="project-full-name">
            <a:extLst xmlns:a="http://schemas.openxmlformats.org/drawingml/2006/main">
              <a:ext uri="{FF2B5EF4-FFF2-40B4-BE49-F238E27FC236}">
                <a16:creationId xmlns:a16="http://schemas.microsoft.com/office/drawing/2014/main" id="{40AED5A0-319A-4569-91B9-AB061F7AD896}"/>
              </a:ext>
            </a:extLst>
          </p:cNvPr>
          <p:cNvSpPr>
            <a:spLocks xmlns:a="http://schemas.openxmlformats.org/drawingml/2006/main" noGrp="1"/>
          </p:cNvSpPr>
          <p:nvPr/>
        </p:nvSpPr>
        <p:spPr>
          <a:xfrm xmlns:a="http://schemas.openxmlformats.org/drawingml/2006/main">
            <a:off x="609600" y="17049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2250" b="0">
                <a:solidFill>
                  <a:srgbClr val="172C40"/>
                </a:solidFill>
                <a:latin typeface="Helvetica Neue"/>
                <a:ea typeface="Helvetica Neue"/>
                <a:cs typeface="Helvetica Neue"/>
              </a:defRPr>
            </a:pPr>
            <a:r>
              <a:rPr sz="2250" b="0">
                <a:solidFill>
                  <a:srgbClr val="172C40"/>
                </a:solidFill>
                <a:latin typeface="Helvetica Neue"/>
                <a:ea typeface="Helvetica Neue"/>
                <a:cs typeface="Helvetica Neue"/>
              </a:rPr>
              <a:t>Pancreatic Review and Outlining Workflow for Lesions</a:t>
            </a:r>
          </a:p>
        </p:txBody>
      </p:sp>
      <p:sp>
        <p:nvSpPr>
          <p:cNvPr id="4" name="what-heading">
            <a:extLst xmlns:a="http://schemas.openxmlformats.org/drawingml/2006/main">
              <a:ext uri="{FF2B5EF4-FFF2-40B4-BE49-F238E27FC236}">
                <a16:creationId xmlns:a16="http://schemas.microsoft.com/office/drawing/2014/main" id="{3ABB2AB0-A5B5-403E-80FC-E1480E5FAA00}"/>
              </a:ext>
            </a:extLst>
          </p:cNvPr>
          <p:cNvSpPr>
            <a:spLocks xmlns:a="http://schemas.openxmlformats.org/drawingml/2006/main" noGrp="1"/>
          </p:cNvSpPr>
          <p:nvPr/>
        </p:nvSpPr>
        <p:spPr>
          <a:xfrm xmlns:a="http://schemas.openxmlformats.org/drawingml/2006/main">
            <a:off x="609600" y="2476500"/>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3150" b="1">
                <a:solidFill>
                  <a:srgbClr val="007A80"/>
                </a:solidFill>
                <a:latin typeface="Helvetica Neue"/>
                <a:ea typeface="Helvetica Neue"/>
                <a:cs typeface="Helvetica Neue"/>
              </a:defRPr>
            </a:pPr>
            <a:r>
              <a:rPr sz="3150" b="1">
                <a:solidFill>
                  <a:srgbClr val="007A80"/>
                </a:solidFill>
                <a:latin typeface="Helvetica Neue"/>
                <a:ea typeface="Helvetica Neue"/>
                <a:cs typeface="Helvetica Neue"/>
              </a:rPr>
              <a:t>What</a:t>
            </a:r>
          </a:p>
        </p:txBody>
      </p:sp>
      <p:sp>
        <p:nvSpPr>
          <p:cNvPr id="5" name="what-body">
            <a:extLst xmlns:a="http://schemas.openxmlformats.org/drawingml/2006/main">
              <a:ext uri="{FF2B5EF4-FFF2-40B4-BE49-F238E27FC236}">
                <a16:creationId xmlns:a16="http://schemas.microsoft.com/office/drawing/2014/main" id="{D56552B6-062E-4C35-8848-389698C2B268}"/>
              </a:ext>
            </a:extLst>
          </p:cNvPr>
          <p:cNvSpPr>
            <a:spLocks xmlns:a="http://schemas.openxmlformats.org/drawingml/2006/main" noGrp="1"/>
          </p:cNvSpPr>
          <p:nvPr/>
        </p:nvSpPr>
        <p:spPr>
          <a:xfrm xmlns:a="http://schemas.openxmlformats.org/drawingml/2006/main">
            <a:off x="609600" y="3152775"/>
            <a:ext cx="33909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spcAft>
                <a:spcPts val="1050"/>
              </a:spcAft>
              <a:buNone/>
              <a:defRPr sz="1800" b="0">
                <a:solidFill>
                  <a:srgbClr val="172C40"/>
                </a:solidFill>
                <a:latin typeface="Helvetica Neue"/>
                <a:ea typeface="Helvetica Neue"/>
                <a:cs typeface="Helvetica Neue"/>
              </a:defRPr>
            </a:pPr>
            <a:r>
              <a:rPr sz="1800" b="0">
                <a:solidFill>
                  <a:srgbClr val="172C40"/>
                </a:solidFill>
                <a:latin typeface="Helvetica Neue"/>
                <a:ea typeface="Helvetica Neue"/>
                <a:cs typeface="Helvetica Neue"/>
              </a:rPr>
              <a:t>I am building PROWL, an AI research prototype that will locate the pancreas and propose lesion outlines on CT scans.</a:t>
            </a:r>
          </a:p>
          <a:p xmlns:a="http://schemas.openxmlformats.org/drawingml/2006/main">
            <a:pPr algn="l">
              <a:lnSpc>
                <a:spcPct val="113000"/>
              </a:lnSpc>
              <a:spcAft>
                <a:spcPts val="1050"/>
              </a:spcAft>
              <a:buNone/>
              <a:defRPr sz="1800" b="0">
                <a:solidFill>
                  <a:srgbClr val="172C40"/>
                </a:solidFill>
                <a:latin typeface="Helvetica Neue"/>
                <a:ea typeface="Helvetica Neue"/>
                <a:cs typeface="Helvetica Neue"/>
              </a:defRPr>
            </a:pPr>
            <a:r>
              <a:rPr sz="1800" b="0">
                <a:solidFill>
                  <a:srgbClr val="172C40"/>
                </a:solidFill>
                <a:latin typeface="Helvetica Neue"/>
                <a:ea typeface="Helvetica Neue"/>
                <a:cs typeface="Helvetica Neue"/>
              </a:rPr>
              <a:t>A reviewer will inspect and edit those contours, then explore supporting medical literature with linked citations.</a:t>
            </a:r>
          </a:p>
        </p:txBody>
      </p:sp>
      <p:sp>
        <p:nvSpPr>
          <p:cNvPr id="6" name="why-heading">
            <a:extLst xmlns:a="http://schemas.openxmlformats.org/drawingml/2006/main">
              <a:ext uri="{FF2B5EF4-FFF2-40B4-BE49-F238E27FC236}">
                <a16:creationId xmlns:a16="http://schemas.microsoft.com/office/drawing/2014/main" id="{92050B95-26E8-4FF1-94D6-600F097103AC}"/>
              </a:ext>
            </a:extLst>
          </p:cNvPr>
          <p:cNvSpPr>
            <a:spLocks xmlns:a="http://schemas.openxmlformats.org/drawingml/2006/main" noGrp="1"/>
          </p:cNvSpPr>
          <p:nvPr/>
        </p:nvSpPr>
        <p:spPr>
          <a:xfrm xmlns:a="http://schemas.openxmlformats.org/drawingml/2006/main">
            <a:off x="4400550" y="2476500"/>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3150" b="1">
                <a:solidFill>
                  <a:srgbClr val="007A80"/>
                </a:solidFill>
                <a:latin typeface="Helvetica Neue"/>
                <a:ea typeface="Helvetica Neue"/>
                <a:cs typeface="Helvetica Neue"/>
              </a:defRPr>
            </a:pPr>
            <a:r>
              <a:rPr sz="3150" b="1">
                <a:solidFill>
                  <a:srgbClr val="007A80"/>
                </a:solidFill>
                <a:latin typeface="Helvetica Neue"/>
                <a:ea typeface="Helvetica Neue"/>
                <a:cs typeface="Helvetica Neue"/>
              </a:rPr>
              <a:t>Why</a:t>
            </a:r>
          </a:p>
        </p:txBody>
      </p:sp>
      <p:sp>
        <p:nvSpPr>
          <p:cNvPr id="7" name="why-body">
            <a:extLst xmlns:a="http://schemas.openxmlformats.org/drawingml/2006/main">
              <a:ext uri="{FF2B5EF4-FFF2-40B4-BE49-F238E27FC236}">
                <a16:creationId xmlns:a16="http://schemas.microsoft.com/office/drawing/2014/main" id="{43009EBC-D297-40BF-A83F-89642C286376}"/>
              </a:ext>
            </a:extLst>
          </p:cNvPr>
          <p:cNvSpPr>
            <a:spLocks xmlns:a="http://schemas.openxmlformats.org/drawingml/2006/main" noGrp="1"/>
          </p:cNvSpPr>
          <p:nvPr/>
        </p:nvSpPr>
        <p:spPr>
          <a:xfrm xmlns:a="http://schemas.openxmlformats.org/drawingml/2006/main">
            <a:off x="4400550" y="3152775"/>
            <a:ext cx="33909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spcAft>
                <a:spcPts val="1050"/>
              </a:spcAft>
              <a:buNone/>
              <a:defRPr sz="1800" b="0">
                <a:solidFill>
                  <a:srgbClr val="172C40"/>
                </a:solidFill>
                <a:latin typeface="Helvetica Neue"/>
                <a:ea typeface="Helvetica Neue"/>
                <a:cs typeface="Helvetica Neue"/>
              </a:defRPr>
            </a:pPr>
            <a:r>
              <a:rPr sz="1800" b="0">
                <a:solidFill>
                  <a:srgbClr val="172C40"/>
                </a:solidFill>
                <a:latin typeface="Helvetica Neue"/>
                <a:ea typeface="Helvetica Neue"/>
                <a:cs typeface="Helvetica Neue"/>
              </a:rPr>
              <a:t>Pancreatic lesion segmentation is a difficult machine learning and computer vision problem.</a:t>
            </a:r>
          </a:p>
          <a:p xmlns:a="http://schemas.openxmlformats.org/drawingml/2006/main">
            <a:pPr algn="l">
              <a:lnSpc>
                <a:spcPct val="113000"/>
              </a:lnSpc>
              <a:spcAft>
                <a:spcPts val="1050"/>
              </a:spcAft>
              <a:buNone/>
              <a:defRPr sz="1800" b="0">
                <a:solidFill>
                  <a:srgbClr val="172C40"/>
                </a:solidFill>
                <a:latin typeface="Helvetica Neue"/>
                <a:ea typeface="Helvetica Neue"/>
                <a:cs typeface="Helvetica Neue"/>
              </a:defRPr>
            </a:pPr>
            <a:r>
              <a:rPr sz="1800" b="0">
                <a:solidFill>
                  <a:srgbClr val="172C40"/>
                </a:solidFill>
                <a:latin typeface="Helvetica Neue"/>
                <a:ea typeface="Helvetica Neue"/>
                <a:cs typeface="Helvetica Neue"/>
              </a:rPr>
              <a:t>I chose this project because I see healthcare as the most inspiring use of AI.</a:t>
            </a:r>
          </a:p>
        </p:txBody>
      </p:sp>
      <p:sp>
        <p:nvSpPr>
          <p:cNvPr id="8" name="how-heading">
            <a:extLst xmlns:a="http://schemas.openxmlformats.org/drawingml/2006/main">
              <a:ext uri="{FF2B5EF4-FFF2-40B4-BE49-F238E27FC236}">
                <a16:creationId xmlns:a16="http://schemas.microsoft.com/office/drawing/2014/main" id="{BA2055EB-312E-41BA-8D60-42F596B05684}"/>
              </a:ext>
            </a:extLst>
          </p:cNvPr>
          <p:cNvSpPr>
            <a:spLocks xmlns:a="http://schemas.openxmlformats.org/drawingml/2006/main" noGrp="1"/>
          </p:cNvSpPr>
          <p:nvPr/>
        </p:nvSpPr>
        <p:spPr>
          <a:xfrm xmlns:a="http://schemas.openxmlformats.org/drawingml/2006/main">
            <a:off x="8191500" y="2476500"/>
            <a:ext cx="3390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buNone/>
              <a:defRPr sz="3150" b="1">
                <a:solidFill>
                  <a:srgbClr val="007A80"/>
                </a:solidFill>
                <a:latin typeface="Helvetica Neue"/>
                <a:ea typeface="Helvetica Neue"/>
                <a:cs typeface="Helvetica Neue"/>
              </a:defRPr>
            </a:pPr>
            <a:r>
              <a:rPr sz="3150" b="1">
                <a:solidFill>
                  <a:srgbClr val="007A80"/>
                </a:solidFill>
                <a:latin typeface="Helvetica Neue"/>
                <a:ea typeface="Helvetica Neue"/>
                <a:cs typeface="Helvetica Neue"/>
              </a:rPr>
              <a:t>How</a:t>
            </a:r>
          </a:p>
        </p:txBody>
      </p:sp>
      <p:sp>
        <p:nvSpPr>
          <p:cNvPr id="9" name="how-body">
            <a:extLst xmlns:a="http://schemas.openxmlformats.org/drawingml/2006/main">
              <a:ext uri="{FF2B5EF4-FFF2-40B4-BE49-F238E27FC236}">
                <a16:creationId xmlns:a16="http://schemas.microsoft.com/office/drawing/2014/main" id="{C585A8AB-4641-49A6-AD91-9F86FC049BA0}"/>
              </a:ext>
            </a:extLst>
          </p:cNvPr>
          <p:cNvSpPr>
            <a:spLocks xmlns:a="http://schemas.openxmlformats.org/drawingml/2006/main" noGrp="1"/>
          </p:cNvSpPr>
          <p:nvPr/>
        </p:nvSpPr>
        <p:spPr>
          <a:xfrm xmlns:a="http://schemas.openxmlformats.org/drawingml/2006/main">
            <a:off x="8191500" y="3152775"/>
            <a:ext cx="33909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3000"/>
              </a:lnSpc>
              <a:spcAft>
                <a:spcPts val="1050"/>
              </a:spcAft>
              <a:buNone/>
              <a:defRPr sz="1800" b="0">
                <a:solidFill>
                  <a:srgbClr val="172C40"/>
                </a:solidFill>
                <a:latin typeface="Helvetica Neue"/>
                <a:ea typeface="Helvetica Neue"/>
                <a:cs typeface="Helvetica Neue"/>
              </a:defRPr>
            </a:pPr>
            <a:r>
              <a:rPr sz="1800" b="0">
                <a:solidFill>
                  <a:srgbClr val="172C40"/>
                </a:solidFill>
                <a:latin typeface="Helvetica Neue"/>
                <a:ea typeface="Helvetica Neue"/>
                <a:cs typeface="Helvetica Neue"/>
              </a:rPr>
              <a:t>I will train a pancreas localizer and lesion segmenter with PyTorch and MONAI, using validated PanTS and PANORAMA data.</a:t>
            </a:r>
          </a:p>
          <a:p xmlns:a="http://schemas.openxmlformats.org/drawingml/2006/main">
            <a:pPr algn="l">
              <a:lnSpc>
                <a:spcPct val="113000"/>
              </a:lnSpc>
              <a:spcAft>
                <a:spcPts val="1050"/>
              </a:spcAft>
              <a:buNone/>
              <a:defRPr sz="1800" b="0">
                <a:solidFill>
                  <a:srgbClr val="172C40"/>
                </a:solidFill>
                <a:latin typeface="Helvetica Neue"/>
                <a:ea typeface="Helvetica Neue"/>
                <a:cs typeface="Helvetica Neue"/>
              </a:defRPr>
            </a:pPr>
            <a:r>
              <a:rPr sz="1800" b="0">
                <a:solidFill>
                  <a:srgbClr val="172C40"/>
                </a:solidFill>
                <a:latin typeface="Helvetica Neue"/>
                <a:ea typeface="Helvetica Neue"/>
                <a:cs typeface="Helvetica Neue"/>
              </a:rPr>
              <a:t>A web viewer will connect editable contours with cited literature, and controlled tests will measure overlap, missed lesions and false alarms.</a:t>
            </a:r>
          </a:p>
        </p:txBody>
      </p:sp>
    </p:spTree>
    <p:extLst>
      <p:ext uri="{BB962C8B-B14F-4D97-AF65-F5344CB8AC3E}">
        <p14:creationId xmlns:p14="http://schemas.microsoft.com/office/powerpoint/2010/main" val="627642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2026-10-06T18:06:49.1630000Z</dcterms:created>
  <dcterms:modified xsi:type="dcterms:W3CDTF">2026-10-06T18:06:49.1630000Z</dcterms:modified>
</coreProperties>
</file>